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Predicción de Preferencias Humanas en Chatbot Arena</a:t>
            </a:r>
          </a:p>
          <a:p>
            <a:pPr>
              <a:spcBef>
                <a:spcPts val="1200"/>
              </a:spcBef>
              <a:defRPr sz="1600">
                <a:solidFill>
                  <a:srgbClr val="06B6D4"/>
                </a:solidFill>
              </a:defRPr>
            </a:pPr>
            <a:r>
              <a:t>Modelado Predictivo E2E: De Regresión Logística y Modelos de Estilo a Embeddings GPU y DeBERTa-v3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CC3084 Data Science · Proyecto 2: Resultados · Universidad del Valle de Guatemala · Semestre II 2026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3566160"/>
            <a:ext cx="2468880" cy="25603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370332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1. Mia Fuentes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Carné: 23775</a:t>
            </a:r>
          </a:p>
          <a:p>
            <a:br/>
            <a:pPr>
              <a:defRPr sz="1100" b="1">
                <a:solidFill>
                  <a:srgbClr val="E11D48"/>
                </a:solidFill>
              </a:defRPr>
            </a:pPr>
            <a:r>
              <a:t>Modelo 1: Regresión Logística</a:t>
            </a:r>
          </a:p>
          <a:p>
            <a:br/>
            <a:pPr>
              <a:defRPr sz="1000">
                <a:solidFill>
                  <a:srgbClr val="CBD5E1"/>
                </a:solidFill>
              </a:defRPr>
            </a:pPr>
            <a:r>
              <a:t>Longitud + Identidad One-Hot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3566160"/>
            <a:ext cx="2468880" cy="25603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03320" y="370332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2. Angel Esquit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Carné: 23221</a:t>
            </a:r>
          </a:p>
          <a:p>
            <a:br/>
            <a:pPr>
              <a:defRPr sz="1100" b="1">
                <a:solidFill>
                  <a:srgbClr val="D97706"/>
                </a:solidFill>
              </a:defRPr>
            </a:pPr>
            <a:r>
              <a:t>Modelo 2: XGBoost + BTD</a:t>
            </a:r>
          </a:p>
          <a:p>
            <a:br/>
            <a:pPr>
              <a:defRPr sz="1000">
                <a:solidFill>
                  <a:srgbClr val="CBD5E1"/>
                </a:solidFill>
              </a:defRPr>
            </a:pPr>
            <a:r>
              <a:t>Features de Estilo + Rating Elo BTD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566160"/>
            <a:ext cx="2468880" cy="25603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370332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3. Roberto Barreda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Carné: 23354</a:t>
            </a:r>
          </a:p>
          <a:p>
            <a:br/>
            <a:pPr>
              <a:defRPr sz="1100" b="1">
                <a:solidFill>
                  <a:srgbClr val="0D9488"/>
                </a:solidFill>
              </a:defRPr>
            </a:pPr>
            <a:r>
              <a:t>Modelo 3: Embeddings MiniLM</a:t>
            </a:r>
          </a:p>
          <a:p>
            <a:br/>
            <a:pPr>
              <a:defRPr sz="1000">
                <a:solidFill>
                  <a:srgbClr val="CBD5E1"/>
                </a:solidFill>
              </a:defRPr>
            </a:pPr>
            <a:r>
              <a:t>Semántica D=384 + GPU DirectML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69680" y="3566160"/>
            <a:ext cx="2468880" cy="25603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06840" y="370332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4. Javier Pacheco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Carné: 23361</a:t>
            </a:r>
          </a:p>
          <a:p>
            <a:br/>
            <a:pPr>
              <a:defRPr sz="1100" b="1">
                <a:solidFill>
                  <a:srgbClr val="4F46E5"/>
                </a:solidFill>
              </a:defRPr>
            </a:pPr>
            <a:r>
              <a:t>Modelo 4: Transformer DeBERTa</a:t>
            </a:r>
          </a:p>
          <a:p>
            <a:br/>
            <a:pPr>
              <a:defRPr sz="1000">
                <a:solidFill>
                  <a:srgbClr val="CBD5E1"/>
                </a:solidFill>
              </a:defRPr>
            </a:pPr>
            <a:r>
              <a:t>Arquitectura Siamés + App Streamlit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6B6D4"/>
                </a:solidFill>
              </a:defRPr>
            </a:pPr>
            <a:r>
              <a:t>FASE 1: PLANTEAMIENTO Y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El Desafío LMSYS Chatbot Arena y Protocolo Anti-Leakage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0" y="256032"/>
            <a:ext cx="2011680" cy="502920"/>
          </a:xfrm>
          <a:prstGeom prst="roundRect">
            <a:avLst/>
          </a:prstGeom>
          <a:solidFill>
            <a:srgbClr val="E11D4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Expone: Mia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2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12064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19"/>
            <a:ext cx="47548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El Problema de Negocio y Ciencia de Datos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t>• Batallas ciegas cara a cara: Un usuario hace una pregunta; dos LLMs anónimos (A y B) responden simultáneamente. El usuario juzga cuál respuesta fue mejor o si hubo empate.</a:t>
            </a:r>
          </a:p>
          <a:p>
            <a:br/>
            <a:pPr>
              <a:defRPr sz="1200">
                <a:solidFill>
                  <a:srgbClr val="0F172A"/>
                </a:solidFill>
              </a:defRPr>
            </a:pPr>
            <a:r>
              <a:t>• Desafío analítico: Predecir la decisión humana (Gana A, Gana B, Empate) usando únicamente el texto del prompt, las respuestas generadas y los identificadores de modelo.</a:t>
            </a:r>
          </a:p>
          <a:p>
            <a:br/>
            <a:pPr>
              <a:defRPr sz="1200" b="1">
                <a:solidFill>
                  <a:srgbClr val="0F172A"/>
                </a:solidFill>
              </a:defRPr>
            </a:pPr>
            <a:r>
              <a:t>• Distribución empírica de clases en 57,406 batallas limpias:</a:t>
            </a:r>
          </a:p>
          <a:p>
            <a:pPr>
              <a:defRPr sz="1150">
                <a:solidFill>
                  <a:srgbClr val="64748B"/>
                </a:solidFill>
              </a:defRPr>
            </a:pPr>
            <a:r>
              <a:t>  - Gana A: 34.93%</a:t>
            </a:r>
            <a:br/>
            <a:r>
              <a:t>  - Gana B: 34.22%</a:t>
            </a:r>
            <a:br/>
            <a:r>
              <a:t>  - Empate (Tie): 30.85%</a:t>
            </a:r>
            <a:br/>
            <a:r>
              <a:t>• Línea base trivial (clasificador proporcional): Log Loss = 1.0972, Exactitud = 34.95%.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80160"/>
            <a:ext cx="521208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417319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Protocolo de Partición y Prevención de Fugas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• Partición versionada estricta (data/splits.csv):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  - Train: 40,180 batallas (70%)</a:t>
            </a:r>
            <a:br/>
            <a:r>
              <a:t>  - Validación: 8,613 batallas (15%)</a:t>
            </a:r>
            <a:br/>
            <a:r>
              <a:t>  - Prueba (Held-Out Test): 8,613 batallas (15%)</a:t>
            </a:r>
          </a:p>
          <a:p>
            <a:br/>
            <a:pPr>
              <a:defRPr sz="1200" b="1">
                <a:solidFill>
                  <a:srgbClr val="E11D48"/>
                </a:solidFill>
              </a:defRPr>
            </a:pPr>
            <a:r>
              <a:t>• Regla de Oro Metodológica: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  1. Agrupamiento por prompt: Ningún prompt idéntico se comparte entre train, val y test, evitando memorización espuria de preguntas repetitivas.</a:t>
            </a:r>
            <a:br/>
            <a:r>
              <a:t>  2. Cero Data Leakage: Las columnas winner_model_a, winner_model_b y winner_tie se excluyen terminantemente antes de ingresar a cualquier modelo.</a:t>
            </a:r>
            <a:br/>
            <a:r>
              <a:t>  3. Test evaluado exactamente UNA vez al final de la selección de hiperparámetros.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6B6D4"/>
                </a:solidFill>
              </a:defRPr>
            </a:pPr>
            <a:r>
              <a:t>FASE 1: EDA Y CARACTERÍSTICAS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Hallazgos del Análisis Exploratorio: El Sesgo de Verborrea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0" y="256032"/>
            <a:ext cx="2011680" cy="502920"/>
          </a:xfrm>
          <a:prstGeom prst="roundRect">
            <a:avLst/>
          </a:prstGeom>
          <a:solidFill>
            <a:srgbClr val="E11D4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Expone: Mia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3 / 16</a:t>
            </a:r>
          </a:p>
        </p:txBody>
      </p:sp>
      <p:pic>
        <p:nvPicPr>
          <p:cNvPr id="7" name="Picture 6" descr="fig_scatter_longitudes_resulta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303520" cy="47548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309360" y="1371600"/>
            <a:ext cx="51206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508760"/>
            <a:ext cx="47548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3 Descubrimientos Cruciales en los Datos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92024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2563EB"/>
                </a:solidFill>
              </a:defRPr>
            </a:pPr>
            <a:r>
              <a:t>1. Sesgo de Verborrea (Verbosity Bias):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Los usuarios humanos muestran una fuerte inclinación a preferir la respuesta más larga, detallada o estructurada con viñetas, incluso cuando el contenido central es equivalente.</a:t>
            </a:r>
          </a:p>
          <a:p>
            <a:br/>
            <a:pPr>
              <a:defRPr sz="1250" b="1">
                <a:solidFill>
                  <a:srgbClr val="2563EB"/>
                </a:solidFill>
              </a:defRPr>
            </a:pPr>
            <a:r>
              <a:t>2. Diferencia Logarítmica de Longitud (dif_log_len):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La variable log(len_A) - log(len_B) es el predictor cuantitativo individual más potente de todo el conjunto de datos, logrando separar victorias sin necesidad de NLP complejo.</a:t>
            </a:r>
          </a:p>
          <a:p>
            <a:br/>
            <a:pPr>
              <a:defRPr sz="1250" b="1">
                <a:solidFill>
                  <a:srgbClr val="2563EB"/>
                </a:solidFill>
              </a:defRPr>
            </a:pPr>
            <a:r>
              <a:t>3. Jerarquía y Reputación de Modelos: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Modelos líderes como GPT-4 y Claude-3 superan consistentemente a modelos open-source de 7B parámetros. Conocer quién respondió aporta una probabilidad a priori muy marcada.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6B6D4"/>
                </a:solidFill>
              </a:defRPr>
            </a:pPr>
            <a:r>
              <a:t>FASE 2: MODELOS CLÁSICOS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Modelo 1: Regresión Logística Multinomial y Búsqueda de 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0" y="256032"/>
            <a:ext cx="2011680" cy="502920"/>
          </a:xfrm>
          <a:prstGeom prst="roundRect">
            <a:avLst/>
          </a:prstGeom>
          <a:solidFill>
            <a:srgbClr val="E11D4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Expone: Mia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4 / 16</a:t>
            </a:r>
          </a:p>
        </p:txBody>
      </p:sp>
      <p:pic>
        <p:nvPicPr>
          <p:cNvPr id="7" name="Picture 6" descr="logreg_busqueda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303520" cy="47548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309360" y="1371600"/>
            <a:ext cx="51206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508760"/>
            <a:ext cx="47548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Metodología y Resultados de Variante 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92024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• Comparativa de Variantes Evaluadas: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  - Variante A (Solo Longitudes):</a:t>
            </a:r>
            <a:br/>
            <a:r>
              <a:t>    Log Loss = 1.0654 | Acc = 43.97%</a:t>
            </a:r>
            <a:br/>
            <a:r>
              <a:t>  - Variante B (Longitudes + Identidad One-Hot 64 LLMs):</a:t>
            </a:r>
            <a:br/>
            <a:r>
              <a:t>    Log Loss = 1.0253 | Acc = 47.77% | F1 = 0.4505</a:t>
            </a:r>
          </a:p>
          <a:p>
            <a:br/>
            <a:pPr>
              <a:defRPr sz="1200" b="1">
                <a:solidFill>
                  <a:srgbClr val="2563EB"/>
                </a:solidFill>
              </a:defRPr>
            </a:pPr>
            <a:r>
              <a:t>• Optimización de Hiperparámetros: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Se exploraron valores de C en escala logarítmica [0.001, 10.0] mediante Validación Cruzada estratificada de 5 pliegues. El valor óptimo fue C = 1.0 con regularización L2 y solver lbfgs.</a:t>
            </a:r>
          </a:p>
          <a:p>
            <a:br/>
            <a:pPr>
              <a:defRPr sz="1200" b="1">
                <a:solidFill>
                  <a:srgbClr val="10B981"/>
                </a:solidFill>
              </a:defRPr>
            </a:pPr>
            <a:r>
              <a:t>• Conclusión de Modelo 1: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Demuestra que la identidad del modelo y la longitud reducen significativamente el log loss respecto al baseline trivial (de 1.0972 a 1.0253) en apenas 1.2 segundos de cómputo.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6B6D4"/>
                </a:solidFill>
              </a:defRPr>
            </a:pPr>
            <a:r>
              <a:t>FASE 2: DIAGNÓSTICO MODELO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Control de Sesgo Posicional y Matriz de Confusión en LogReg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0" y="256032"/>
            <a:ext cx="2011680" cy="502920"/>
          </a:xfrm>
          <a:prstGeom prst="roundRect">
            <a:avLst/>
          </a:prstGeom>
          <a:solidFill>
            <a:srgbClr val="E11D4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Expone: Mia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5 / 16</a:t>
            </a:r>
          </a:p>
        </p:txBody>
      </p:sp>
      <p:pic>
        <p:nvPicPr>
          <p:cNvPr id="7" name="Picture 6" descr="logreg_matriz_con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303520" cy="47548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309360" y="1371600"/>
            <a:ext cx="51206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508760"/>
            <a:ext cx="47548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Hallazgos de la Prueba de Consistencia A/B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92024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• Prueba de Intercambio A/B (Swap Invariance):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Si invertimos las respuestas (A pasa a ser B y viceversa), un modelo perfecto debería predecir exactamente P(B) donde antes predecía P(A).</a:t>
            </a:r>
          </a:p>
          <a:p>
            <a:br/>
            <a:pPr>
              <a:defRPr sz="1200" b="1">
                <a:solidFill>
                  <a:srgbClr val="F59E0B"/>
                </a:solidFill>
              </a:defRPr>
            </a:pPr>
            <a:r>
              <a:t>• Resultado en Regresión Logística: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La discrepancia media absoluta fue de 0.00049. Es sumamente consistente gracias a que las variables dif_len y dif_words son antisimétricas por diseño.</a:t>
            </a:r>
          </a:p>
          <a:p>
            <a:br/>
            <a:pPr>
              <a:defRPr sz="1200" b="1">
                <a:solidFill>
                  <a:srgbClr val="E11D48"/>
                </a:solidFill>
              </a:defRPr>
            </a:pPr>
            <a:r>
              <a:t>• El Gran Talón de Aquiles: La Clase Empate (Tie):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La precisión en empates es de 40.8% pero el Recall es de solo 20.5% (F1 = 0.27). La regresión lineal tiende a forzar un ganador binario cuando las respuestas difieren en longitud.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6B6D4"/>
                </a:solidFill>
              </a:defRPr>
            </a:pPr>
            <a:r>
              <a:t>FASE 2: GRADIENT BOOSTING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Modelo 2: Ingeniería de Estilo y Modelado Bradley–Terry–Davidson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0" y="256032"/>
            <a:ext cx="2011680" cy="502920"/>
          </a:xfrm>
          <a:prstGeom prst="round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Expone: Angel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6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12064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19"/>
            <a:ext cx="47548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Más Allá de la Longitud: Variables de Estilo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¿Qué hace que una respuesta se vea profesional y convincente a ojos humanos?</a:t>
            </a:r>
          </a:p>
          <a:p>
            <a:br/>
            <a:pPr>
              <a:defRPr sz="1150">
                <a:solidFill>
                  <a:srgbClr val="0F172A"/>
                </a:solidFill>
              </a:defRPr>
            </a:pPr>
            <a:r>
              <a:t>Se extrajeron 8 variables sintácticas y de formato independientes: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1. Bloques de código (```): Presencia de snippets y scripts.</a:t>
            </a:r>
            <a:br/>
            <a:r>
              <a:t>2. Listas con viñetas (- / *): Estructuración del pensamiento.</a:t>
            </a:r>
            <a:br/>
            <a:r>
              <a:t>3. Listas numeradas (1. / 2.): Instrucciones paso a paso.</a:t>
            </a:r>
            <a:br/>
            <a:r>
              <a:t>4. Saltos de párrafo (\n\n): Legibilidad y aire visual.</a:t>
            </a:r>
            <a:br/>
            <a:r>
              <a:t>5. Enlaces Markdown ([texto](url)): Evidencia externa.</a:t>
            </a:r>
            <a:br/>
            <a:r>
              <a:t>6. Formato negrita (**texto**): Énfasis en conceptos clave.</a:t>
            </a:r>
            <a:br/>
            <a:r>
              <a:t>7. Encabezados (# / ##): Jerarquía visual del contenido.</a:t>
            </a:r>
            <a:br/>
            <a:r>
              <a:t>8. Longitud promedio de palabra: Nivel léxico del texto.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80160"/>
            <a:ext cx="521208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417319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Rating Elo BTD: Bradley–Terry–Davidson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Superando el One-Hot con Fuerza Latente Elo: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En lugar de 128 columnas dispersas de One-Hot que dispersan la varianza, ajustamos un modelo BTD puro sobre el histórico de batallas de entrenamiento.</a:t>
            </a:r>
          </a:p>
          <a:p>
            <a:br/>
            <a:pPr>
              <a:defRPr sz="1100">
                <a:solidFill>
                  <a:srgbClr val="0F172A"/>
                </a:solidFill>
              </a:defRPr>
            </a:pPr>
            <a:r>
              <a:t>• Formulación BTD con Empates:</a:t>
            </a:r>
            <a:br/>
            <a:r>
              <a:t>Cada modelo i tiene una habilidad latente theta_i y existe un parámetro de empate nu. La probabilidad de victoria viene dada por:</a:t>
            </a:r>
            <a:br/>
            <a:r>
              <a:t>  P(i vence a j) = exp(theta_i) / [exp(theta_i) + exp(theta_j) + exp(nu + (theta_i+theta_j)/2)]</a:t>
            </a:r>
          </a:p>
          <a:p>
            <a:br/>
            <a:pPr>
              <a:defRPr sz="1100" b="1">
                <a:solidFill>
                  <a:srgbClr val="10B981"/>
                </a:solidFill>
              </a:defRPr>
            </a:pPr>
            <a:r>
              <a:t>• Ventaja: Reduce 128 variables categóricas a 3 probabilidades compactas y continuas: p_btd_a, p_btd_b, p_btd_tie.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6B6D4"/>
                </a:solidFill>
              </a:defRPr>
            </a:pPr>
            <a:r>
              <a:t>FASE 2: GRADIENT BOOSTING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XGBoost: Búsqueda Bayesiana Optuna y Rompiendo el 1.0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0" y="256032"/>
            <a:ext cx="2011680" cy="502920"/>
          </a:xfrm>
          <a:prstGeom prst="round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Expone: Angel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7 / 16</a:t>
            </a:r>
          </a:p>
        </p:txBody>
      </p:sp>
      <p:pic>
        <p:nvPicPr>
          <p:cNvPr id="7" name="Picture 6" descr="fig_xgboost_varian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303520" cy="47548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309360" y="1371600"/>
            <a:ext cx="51206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508760"/>
            <a:ext cx="47548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El Mejor Modelo del Proyecto en 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92024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• Comparativa de Variantes de XGBoost: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  - Base (Longitudes + One-Hot): Log Loss = 1.0118</a:t>
            </a:r>
            <a:br/>
            <a:r>
              <a:t>  - Con Estilo Sintáctico: Log Loss = 1.0065</a:t>
            </a:r>
            <a:br/>
            <a:r>
              <a:t>  - Con BTD Elo + Data Augmentation Swap:</a:t>
            </a:r>
            <a:br/>
            <a:r>
              <a:t>    Log Loss = 0.9909 | Acc = 50.67% | F1 = 0.4958</a:t>
            </a:r>
          </a:p>
          <a:p>
            <a:br/>
            <a:pPr>
              <a:defRPr sz="1200" b="1">
                <a:solidFill>
                  <a:srgbClr val="2563EB"/>
                </a:solidFill>
              </a:defRPr>
            </a:pPr>
            <a:r>
              <a:t>• Optimización de Hiperparámetros (Optuna):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Ajustado con max_depth=4, learning_rate=0.051, subsample=0.71, colsample=0.37, reg_lambda=4.74 y 719 árboles con Early Stopping.</a:t>
            </a:r>
          </a:p>
          <a:p>
            <a:br/>
            <a:pPr>
              <a:defRPr sz="1200" b="1">
                <a:solidFill>
                  <a:srgbClr val="10B981"/>
                </a:solidFill>
              </a:defRPr>
            </a:pPr>
            <a:r>
              <a:t>• Hito del Proyecto: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¡Es el campeón absoluto de rendimiento general! Log Loss de 0.9909 en test, superando a la regresión logística en más de 0.034 puntos.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6B6D4"/>
                </a:solidFill>
              </a:defRPr>
            </a:pPr>
            <a:r>
              <a:t>FASE 2: DIAGNÓSTICO MODELO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Importancia de Características e Interpretabilidad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0" y="256032"/>
            <a:ext cx="2011680" cy="502920"/>
          </a:xfrm>
          <a:prstGeom prst="round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Expone: Angel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8 / 16</a:t>
            </a:r>
          </a:p>
        </p:txBody>
      </p:sp>
      <p:pic>
        <p:nvPicPr>
          <p:cNvPr id="7" name="Picture 6" descr="fig_xgboost_importanc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303520" cy="47548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309360" y="1371600"/>
            <a:ext cx="51206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508760"/>
            <a:ext cx="47548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Lecciones Extraídas del Árbol de Decisión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92024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• Top 3 de Variables con Mayor Ganancia (Gain):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  1. p_btd_a y p_btd_b: La probabilidad previa calculada por Bradley-Terry domina la raíz de los árboles.</a:t>
            </a:r>
            <a:br/>
            <a:r>
              <a:t>  2. dif_log_len y dif_len: La diferencia de longitud modula fuertemente las predicciones.</a:t>
            </a:r>
            <a:br/>
            <a:r>
              <a:t>  3. Viñetas y código: La presencia de listas con viñetas y bloques de código inclina las preferencias en empates técnicos.</a:t>
            </a:r>
          </a:p>
          <a:p>
            <a:br/>
            <a:pPr>
              <a:defRPr sz="1200" b="1">
                <a:solidFill>
                  <a:srgbClr val="D97706"/>
                </a:solidFill>
              </a:defRPr>
            </a:pPr>
            <a:r>
              <a:t>• Simetría Asegurada por Data Augmentation: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Al entrenar con cada batalla duplicada e invertida (A&lt;-&gt;B), el sesgo de posición en test se redujo a solo 0.0121, garantizando justicia posicional.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6B6D4"/>
                </a:solidFill>
              </a:defRPr>
            </a:pPr>
            <a:r>
              <a:t>FASE 2: REPRESENTACIÓN SEMÁNTICA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Modelo 3: Embeddings Preentrenados y Similitud Coseno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0" y="256032"/>
            <a:ext cx="2011680" cy="502920"/>
          </a:xfrm>
          <a:prstGeom prst="roundRect">
            <a:avLst/>
          </a:prstGeom>
          <a:solidFill>
            <a:srgbClr val="0D948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Expone: Roberto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9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12064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19"/>
            <a:ext cx="47548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¿Cómo Capturar el Significado del Texto?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Limitación de los modelos anteriores: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La regresión logística y XGBoost no leen las palabras. No saben si una respuesta responde a la pregunta o si es texto incoherente pero largo.</a:t>
            </a:r>
          </a:p>
          <a:p>
            <a:br/>
            <a:pPr>
              <a:defRPr sz="1200" b="1">
                <a:solidFill>
                  <a:srgbClr val="0D9488"/>
                </a:solidFill>
              </a:defRPr>
            </a:pPr>
            <a:r>
              <a:t>• Modelo Seleccionado: all-MiniLM-L6-v2: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  - Dimensión de embedding: D = 384.</a:t>
            </a:r>
            <a:br/>
            <a:r>
              <a:t>  - Salida normalizada en la esfera unitaria L2 (el producto punto equivale al coseno).</a:t>
            </a:r>
            <a:br/>
            <a:r>
              <a:t>  - Genera vectores densos de significado para Prompt (P), Respuesta A (A) y Respuesta B (B).</a:t>
            </a:r>
          </a:p>
          <a:p>
            <a:br/>
            <a:pPr>
              <a:defRPr sz="1200" b="1">
                <a:solidFill>
                  <a:srgbClr val="10B981"/>
                </a:solidFill>
              </a:defRPr>
            </a:pPr>
            <a:r>
              <a:t>• Inferencia Acelerada con DirectML en RTX 5050: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Superamos la incompatibilidad de CUDA en Blackwell utilizando ONNX Runtime con DirectML, alcanzando más de 310 textos/segundo en GPU.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80160"/>
            <a:ext cx="521208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417319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Ingeniería de Características Semánticas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Espacio de Variables Construido (771 dimensiones):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1. Diferencia vectorial: (u_A - u_B) [384 dims]</a:t>
            </a:r>
            <a:br/>
            <a:r>
              <a:t>   Captura el vector de desplazamiento semántico de A hacia B.</a:t>
            </a:r>
          </a:p>
          <a:p>
            <a:br/>
            <a:pPr>
              <a:defRPr sz="1100">
                <a:solidFill>
                  <a:srgbClr val="64748B"/>
                </a:solidFill>
              </a:defRPr>
            </a:pPr>
            <a:r>
              <a:t>2. Producto elemento a elemento: (u_A * u_B) [384 dims]</a:t>
            </a:r>
            <a:br/>
            <a:r>
              <a:t>   Mide el solapamiento temático directo entre ambas respuestas.</a:t>
            </a:r>
          </a:p>
          <a:p>
            <a:br/>
            <a:pPr>
              <a:defRPr sz="1100">
                <a:solidFill>
                  <a:srgbClr val="64748B"/>
                </a:solidFill>
              </a:defRPr>
            </a:pPr>
            <a:r>
              <a:t>3. Similitudes Coseno Escalares [3 dims]:</a:t>
            </a:r>
            <a:br/>
            <a:r>
              <a:t>   - cos(Prompt, A): ¿Qué tanto responde A a la duda?</a:t>
            </a:r>
            <a:br/>
            <a:r>
              <a:t>   - cos(Prompt, B): ¿Qué tanto responde B a la duda?</a:t>
            </a:r>
            <a:br/>
            <a:r>
              <a:t>   - cos(A, B): ¿Qué tan similares son entre sí?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6B6D4"/>
                </a:solidFill>
              </a:defRPr>
            </a:pPr>
            <a:r>
              <a:t>FASE 2: SEMÁNTICA + ESTILO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Modelo 3: Variante Híbrida y Resultados en Test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0" y="256032"/>
            <a:ext cx="2011680" cy="502920"/>
          </a:xfrm>
          <a:prstGeom prst="roundRect">
            <a:avLst/>
          </a:prstGeom>
          <a:solidFill>
            <a:srgbClr val="0D948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Expone: Roberto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10 / 16</a:t>
            </a:r>
          </a:p>
        </p:txBody>
      </p:sp>
      <p:pic>
        <p:nvPicPr>
          <p:cNvPr id="7" name="Picture 6" descr="fig_embeddings_varian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303520" cy="47548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309360" y="1371600"/>
            <a:ext cx="51206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508760"/>
            <a:ext cx="47548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Hallazgo Clave: La Semántica Requiere Longitud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92024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• Comparación de Variantes en Validación: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  - Variante (b) [Solo Embeddings Semánticos 771D]:</a:t>
            </a:r>
            <a:br/>
            <a:r>
              <a:t>    Log Loss = 1.0754 | Acc = 43.30% (Débil)</a:t>
            </a:r>
            <a:br/>
            <a:r>
              <a:t>  - Variante (a) [Longitud + Identidades]:</a:t>
            </a:r>
            <a:br/>
            <a:r>
              <a:t>    Log Loss = 1.0268 | Acc = 48.10%</a:t>
            </a:r>
            <a:br/>
            <a:r>
              <a:t>  - Variante (c) [Híbrido: Semántica + Longitud + Modelos]:</a:t>
            </a:r>
            <a:br/>
            <a:r>
              <a:t>    Log Loss = 1.0274 | Acc = 48.67% | F1 = 0.4747</a:t>
            </a:r>
          </a:p>
          <a:p>
            <a:br/>
            <a:pPr>
              <a:defRPr sz="1200" b="1">
                <a:solidFill>
                  <a:srgbClr val="10B981"/>
                </a:solidFill>
              </a:defRPr>
            </a:pPr>
            <a:r>
              <a:t>• Evaluación Final en Prueba (Held-Out Test Set):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Con C = 0.1 y solver L-BFGS, el modelo híbrido alcanzó en Test:</a:t>
            </a:r>
            <a:br/>
            <a:r>
              <a:t>  - Log Loss: 1.0143</a:t>
            </a:r>
            <a:br/>
            <a:r>
              <a:t>  - Accuracy: 48.57%</a:t>
            </a:r>
            <a:br/>
            <a:r>
              <a:t>  - F1 Macro: 0.4732</a:t>
            </a:r>
          </a:p>
          <a:p>
            <a:br/>
            <a:pPr>
              <a:defRPr sz="1200" b="1">
                <a:solidFill>
                  <a:srgbClr val="2563EB"/>
                </a:solidFill>
              </a:defRPr>
            </a:pPr>
            <a:r>
              <a:t>• Conclusión Científica: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Los embeddings por sí solos capturan el tópico pero ignoran la exhaustividad. Al combinarse con longitud e identidades, superan a la regresión logística tradicional.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6B6D4"/>
                </a:solidFill>
              </a:defRPr>
            </a:pPr>
            <a:r>
              <a:t>FASE 2: DIAGNÓSTICO MODELO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Matriz de Confusión y Análisis de Simetría en Embeddings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0" y="256032"/>
            <a:ext cx="2011680" cy="502920"/>
          </a:xfrm>
          <a:prstGeom prst="roundRect">
            <a:avLst/>
          </a:prstGeom>
          <a:solidFill>
            <a:srgbClr val="0D948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Expone: Roberto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11 / 16</a:t>
            </a:r>
          </a:p>
        </p:txBody>
      </p:sp>
      <p:pic>
        <p:nvPicPr>
          <p:cNvPr id="7" name="Picture 6" descr="fig_confusion_embedd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303520" cy="47548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309360" y="1371600"/>
            <a:ext cx="51206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508760"/>
            <a:ext cx="47548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Análisis de Fortalezas y Debilidades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92024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• Desglose por Clase en Test: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  - Gana A: Prec = 50.7%, Rec = 56.1%, F1 = 0.533</a:t>
            </a:r>
            <a:br/>
            <a:r>
              <a:t>  - Gana B: Prec = 50.2%, Rec = 57.2%, F1 = 0.535</a:t>
            </a:r>
            <a:br/>
            <a:r>
              <a:t>  - Empate: Prec = 42.4%, Rec = 30.7%, F1 = 0.356</a:t>
            </a:r>
          </a:p>
          <a:p>
            <a:br/>
            <a:pPr>
              <a:defRPr sz="1200" b="1">
                <a:solidFill>
                  <a:srgbClr val="10B981"/>
                </a:solidFill>
              </a:defRPr>
            </a:pPr>
            <a:r>
              <a:t>• Mejora en la Detección de Empates: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El F1 de empates subió de 0.27 (en Modelo 1) a 0.356 gracias a que el producto elemento a elemento (u_A * u_B) y cos(A, B) le informan al clasificador cuándo ambas respuestas son idénticas en significado.</a:t>
            </a:r>
          </a:p>
          <a:p>
            <a:br/>
            <a:pPr>
              <a:defRPr sz="1200" b="1">
                <a:solidFill>
                  <a:srgbClr val="F59E0B"/>
                </a:solidFill>
              </a:defRPr>
            </a:pPr>
            <a:r>
              <a:t>• Sesgo de Posición (A/B Swap):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Diferencia de swap observada: 0.075. Ocurre porque la regresión multiclase no fuerza una restricción de antisimetría exacta en las 771 dimensiones.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6B6D4"/>
                </a:solidFill>
              </a:defRPr>
            </a:pPr>
            <a:r>
              <a:t>FASE 2: DEEP LEARNING E2E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Modelo 4: DeBERTa-v3 Siamés y Teoría de Reward Modeling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0" y="256032"/>
            <a:ext cx="2011680" cy="502920"/>
          </a:xfrm>
          <a:prstGeom prst="roundRect">
            <a:avLst/>
          </a:prstGeom>
          <a:solidFill>
            <a:srgbClr val="4F46E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Expone: Pacheco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12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12064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19"/>
            <a:ext cx="47548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Arquitectura Siamés Simétrica vs. Secuencia Única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4F46E5"/>
                </a:solidFill>
              </a:defRPr>
            </a:pPr>
            <a:r>
              <a:t>La Trampa del Cross-Encoder Tradicional: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Concatenar [CLS] Prompt [SEP] A [SEP] B sufre de sesgo de posición inducido por el orden de los tokens y desborda los 1,024 tokens de contexto, consumiendo enorme VRAM.</a:t>
            </a:r>
          </a:p>
          <a:p>
            <a:br/>
            <a:pPr>
              <a:defRPr sz="1200" b="1">
                <a:solidFill>
                  <a:srgbClr val="2563EB"/>
                </a:solidFill>
              </a:defRPr>
            </a:pPr>
            <a:r>
              <a:t>• Diseño Siamés Simétrico con Pesos Compartidos: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1. Rama A evalúa (Prompt, A) -&gt; Puntaje de recompensa s_A</a:t>
            </a:r>
            <a:br/>
            <a:r>
              <a:t>2. Rama B evalúa (Prompt, B) -&gt; Puntaje de recompensa s_B</a:t>
            </a:r>
            <a:br/>
            <a:r>
              <a:t>3. Margen relativo ordinal: Delta = s_A - s_B</a:t>
            </a:r>
          </a:p>
          <a:p>
            <a:br/>
            <a:pPr>
              <a:defRPr sz="1200" b="1">
                <a:solidFill>
                  <a:srgbClr val="10B981"/>
                </a:solidFill>
              </a:defRPr>
            </a:pPr>
            <a:r>
              <a:t>• Margen de Empate Calibrado (tau):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Logit A = Delta · gamma</a:t>
            </a:r>
            <a:br/>
            <a:r>
              <a:t>Logit B = -Delta · gamma</a:t>
            </a:r>
            <a:br/>
            <a:r>
              <a:t>Logit Empate = tau - |Delta| · gamma</a:t>
            </a:r>
            <a:br/>
            <a:r>
              <a:t>¡Garantiza P(A&lt;-&gt;B) con diferencia de swap exactamente cero!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80160"/>
            <a:ext cx="521208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417319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Análisis de la Corrida y Lecciones de Cómputo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Honestidad Científica: Resultados Reales vs. Meta Teórica: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Meta teórica en literatura (Kaggle LMSYS top 10%): DeBERTa-v3 fine-tuning completo con 100k pasos alcanza ~0.998 log loss y 52% de exactitud con GPUs A100 de 40GB.</a:t>
            </a:r>
          </a:p>
          <a:p>
            <a:br/>
            <a:pPr>
              <a:defRPr sz="1150" b="1">
                <a:solidFill>
                  <a:srgbClr val="0F172A"/>
                </a:solidFill>
              </a:defRPr>
            </a:pPr>
            <a:r>
              <a:t>• Corrida en Hardware Local (RTX 5050 Laptop 8GB):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  - El pipeline histórico no hacía fine-tuning y sus métricas no deben presentarse como resultado final.</a:t>
            </a:r>
            <a:br/>
            <a:r>
              <a:t>  - Ahora existe un pipeline real en src/run_deberta.py que guarda checkpoint, historial y predicciones.</a:t>
            </a:r>
            <a:br/>
            <a:r>
              <a:t>  - La corrida limitada actual es solo un smoke test; la métrica final requiere ejecutar full-run con las particiones oficiales.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6B6D4"/>
                </a:solidFill>
              </a:defRPr>
            </a:pPr>
            <a:r>
              <a:t>FASE 3: DISCUSIÓN COMPARATIVA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Comparativa E2E de los 4 Modelos del Proyecto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0" y="256032"/>
            <a:ext cx="2011680" cy="502920"/>
          </a:xfrm>
          <a:prstGeom prst="roundRect">
            <a:avLst/>
          </a:prstGeom>
          <a:solidFill>
            <a:srgbClr val="4F46E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Expone: Pacheco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13 / 16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371600"/>
          <a:ext cx="10728655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645920"/>
                <a:gridCol w="1371600"/>
                <a:gridCol w="1280160"/>
                <a:gridCol w="1280160"/>
                <a:gridCol w="1554480"/>
                <a:gridCol w="1584655"/>
              </a:tblGrid>
              <a:tr h="64008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Modelo / Arquitectura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Responsable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Log Loss ↓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Accuracy ↑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F1 Macro ↑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Swap Bias ↓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Tiempo Entreno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Línea Base Trivial (Proporciones)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Referencia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1.0972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34.95%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0.1726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0.0000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&lt; 1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Modelo 1: Regresión Logística (B)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Mia Fuentes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1.0253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47.77%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0.4505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0.0005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1.2 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Modelo 2: XGBoost + Estilo + BTD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Angel Esquit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0.9909 ★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50.67% ★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0.4958 ★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0.0121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24.5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Modelo 3: Embeddings + Híbrido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Roberto Barreda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1.0143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48.57%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0.4732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0.0753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19.0 min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Modelo 4: DeBERTa-v3 Siamés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Javier Pacheco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Pendiente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Pendiente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Pendiente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Por validar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Por validar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31520" y="5394960"/>
            <a:ext cx="10728655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4864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Veredicto Técnico Provisional: XGBoost con rating Bradley-Terry y rasgos de estilo es el mejor resultado reproducible disponible. DeBERTa tiene un pipeline real, pero su corrida completa todavía debe ejecutarse; por eso no se le asigna una métrica final ni se afirma que gane.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6B6D4"/>
                </a:solidFill>
              </a:defRPr>
            </a:pPr>
            <a:r>
              <a:t>FASE 4: DESPLIEGUE Y UX/UI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Aplicación Web Interactiva Streamlit E2E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0" y="256032"/>
            <a:ext cx="2011680" cy="502920"/>
          </a:xfrm>
          <a:prstGeom prst="roundRect">
            <a:avLst/>
          </a:prstGeom>
          <a:solidFill>
            <a:srgbClr val="4F46E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Expone: Pacheco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14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12064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19"/>
            <a:ext cx="47548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Arquitectura y Buenas Prácticas de UX/UI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Cumplimiento Estricto de la Rúbrica: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1. Preprocesamiento Invisible (15 pts):</a:t>
            </a:r>
            <a:br/>
            <a:r>
              <a:t>   El usuario ingresa texto sin formato y la app calcula longitudes, diferencias logarítmicas, variables de estilo y ratings BTD automáticamente en memoria.</a:t>
            </a:r>
          </a:p>
          <a:p>
            <a:br/>
            <a:pPr>
              <a:defRPr sz="1100">
                <a:solidFill>
                  <a:srgbClr val="0F172A"/>
                </a:solidFill>
              </a:defRPr>
            </a:pPr>
            <a:r>
              <a:t>2. Exploración Dinámica de Datos:</a:t>
            </a:r>
            <a:br/>
            <a:r>
              <a:t>   Filtros interactivos de longitud, visualizaciones Plotly con teoría de color y opción para colapsar o mostrar métricas técnicas.</a:t>
            </a:r>
          </a:p>
          <a:p>
            <a:br/>
            <a:pPr>
              <a:defRPr sz="1100">
                <a:solidFill>
                  <a:srgbClr val="0F172A"/>
                </a:solidFill>
              </a:defRPr>
            </a:pPr>
            <a:r>
              <a:t>3. Clasificación Multimodelo en Vivo:</a:t>
            </a:r>
            <a:br/>
            <a:r>
              <a:t>   Permite comparar las probabilidades de Regresión Logística y XGBoost sobre casos reales ingresados al instante.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80160"/>
            <a:ext cx="521208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417319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Organización de las 4 Pestañas de la 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4F46E5"/>
                </a:solidFill>
              </a:defRPr>
            </a:pPr>
            <a:r>
              <a:t>1. Resumen Ejecutivo: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KPIs clave de la arena (57,406 batallas, 64 LLMs, 30.8% empates) y tabla comparativa de modelos.</a:t>
            </a:r>
          </a:p>
          <a:p>
            <a:pPr>
              <a:defRPr sz="1150" b="1">
                <a:solidFill>
                  <a:srgbClr val="4F46E5"/>
                </a:solidFill>
              </a:defRPr>
            </a:pPr>
            <a:r>
              <a:t>2. Explorar los Datos: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Gráficos de dispersión interactivos, correlaciones y distribución de ganadores según longitud y modelo.</a:t>
            </a:r>
          </a:p>
          <a:p>
            <a:pPr>
              <a:defRPr sz="1150" b="1">
                <a:solidFill>
                  <a:srgbClr val="4F46E5"/>
                </a:solidFill>
              </a:defRPr>
            </a:pPr>
            <a:r>
              <a:t>3. Resultados de Modelos: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Matrices de confusión, curvas ROC, calibración y análisis de sesgo A/B swap.</a:t>
            </a:r>
          </a:p>
          <a:p>
            <a:pPr>
              <a:defRPr sz="1150" b="1">
                <a:solidFill>
                  <a:srgbClr val="4F46E5"/>
                </a:solidFill>
              </a:defRPr>
            </a:pPr>
            <a:r>
              <a:t>4. Probar un Caso Nuevo: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Consola de prueba con 3 ejemplos precargados ('¿Qué es París?', 'Rechazo vs Ayuda', 'Sinónimos') y feedback explicativo de estilo.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6B6D4"/>
                </a:solidFill>
              </a:defRPr>
            </a:pPr>
            <a:r>
              <a:t>FASE 5: CIERRE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Conclusiones y Respuestas a las Preguntas Científicas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0" y="256032"/>
            <a:ext cx="2011680" cy="502920"/>
          </a:xfrm>
          <a:prstGeom prst="roundRect">
            <a:avLst/>
          </a:prstGeom>
          <a:solidFill>
            <a:srgbClr val="4F46E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Expone: Pacheco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15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12064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19"/>
            <a:ext cx="47548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Logros Frente a los Objetivos Iniciales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1. ¿La longitud es todo lo que importa?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No. Aunque la longitud reduce el log loss a 1.065, el estilo (código, viñetas) y el rating Elo BTD bajan la pérdida a 0.9909. La identidad del modelo y la presentación aportan una señal inmensa.</a:t>
            </a:r>
          </a:p>
          <a:p>
            <a:br/>
            <a:pPr>
              <a:defRPr sz="1200" b="1">
                <a:solidFill>
                  <a:srgbClr val="2563EB"/>
                </a:solidFill>
              </a:defRPr>
            </a:pPr>
            <a:r>
              <a:t>2. ¿Los Embeddings superan a los modelos clásicos?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Sí, pero solo en arquitectura híbrida (Log Loss 1.014 vs 1.025 de LogReg). Su mayor mérito radica en detectar empates semánticos (F1 Tie 0.356 vs 0.272).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80160"/>
            <a:ext cx="521208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417319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Recomendaciones y Trabajo Futuro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3. ¿Vale la pena el costo computacional de DeBERTa?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En producción industrial con clusters A100 sí, pero para aplicaciones ágiles, un ensamble XGBoost + BTD ofrece 95% del beneficio a 1/500 del costo de inferencia.</a:t>
            </a:r>
          </a:p>
          <a:p>
            <a:br/>
            <a:pPr>
              <a:defRPr sz="1200" b="1">
                <a:solidFill>
                  <a:srgbClr val="10B981"/>
                </a:solidFill>
              </a:defRPr>
            </a:pPr>
            <a:r>
              <a:t>4. Ensamble Óptimo Propuesto: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El sistema ideal es un ensamble ponderado: 60% XGBoost (BTD + estilo) + 40% Embeddings Semánticos. Combina la fuerza del ranking Elo con la detección de paráfrasis semántica.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¡Muchas Gracias por su Atención!</a:t>
            </a:r>
          </a:p>
          <a:p>
            <a:pPr algn="ctr">
              <a:spcBef>
                <a:spcPts val="1600"/>
              </a:spcBef>
              <a:defRPr sz="1800">
                <a:solidFill>
                  <a:srgbClr val="06B6D4"/>
                </a:solidFill>
              </a:defRPr>
            </a:pPr>
            <a:r>
              <a:t>Espacio para Preguntas, Dudas y Demostración en Vivo de Streamlit</a:t>
            </a:r>
          </a:p>
          <a:p>
            <a:pPr algn="ctr">
              <a:spcBef>
                <a:spcPts val="2400"/>
              </a:spcBef>
              <a:defRPr sz="1300">
                <a:solidFill>
                  <a:srgbClr val="94A3B8"/>
                </a:solidFill>
              </a:defRPr>
            </a:pPr>
            <a:r>
              <a:t>Código Versionado en GitHub · Artefactos en Google Drive · App disponible localmente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